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73" r:id="rId2"/>
    <p:sldId id="269" r:id="rId3"/>
    <p:sldId id="274" r:id="rId4"/>
    <p:sldId id="275" r:id="rId5"/>
    <p:sldId id="281" r:id="rId6"/>
    <p:sldId id="284" r:id="rId7"/>
    <p:sldId id="285" r:id="rId8"/>
    <p:sldId id="286" r:id="rId9"/>
    <p:sldId id="283" r:id="rId10"/>
    <p:sldId id="256" r:id="rId11"/>
    <p:sldId id="257" r:id="rId12"/>
    <p:sldId id="258" r:id="rId13"/>
    <p:sldId id="259" r:id="rId14"/>
    <p:sldId id="260" r:id="rId15"/>
    <p:sldId id="261" r:id="rId16"/>
    <p:sldId id="271" r:id="rId17"/>
    <p:sldId id="282" r:id="rId18"/>
    <p:sldId id="279" r:id="rId19"/>
    <p:sldId id="278" r:id="rId20"/>
    <p:sldId id="277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欢迎界面" id="{0871300D-371C-41AD-8A95-FABB9274EAB8}">
          <p14:sldIdLst>
            <p14:sldId id="273"/>
          </p14:sldIdLst>
        </p14:section>
        <p14:section name="校准" id="{3F23C96A-D1A8-44DA-B72D-C0CBD8B4422D}">
          <p14:sldIdLst>
            <p14:sldId id="269"/>
          </p14:sldIdLst>
        </p14:section>
        <p14:section name="Eyelink校准" id="{ED26DB9E-A1DD-409D-8637-D3ABF049D4C8}">
          <p14:sldIdLst/>
        </p14:section>
        <p14:section name="Tobii校准" id="{64C4C5E6-F6E8-4D90-A0C9-9BE9E9AA089C}">
          <p14:sldIdLst>
            <p14:sldId id="274"/>
            <p14:sldId id="275"/>
          </p14:sldIdLst>
        </p14:section>
        <p14:section name="任务一 自由观看" id="{F32354CF-77DC-4D84-809A-B062A9BD7B65}">
          <p14:sldIdLst>
            <p14:sldId id="281"/>
            <p14:sldId id="284"/>
            <p14:sldId id="285"/>
            <p14:sldId id="286"/>
            <p14:sldId id="283"/>
          </p14:sldIdLst>
        </p14:section>
        <p14:section name="任务一 练习阶段" id="{65576218-A7F1-4A8F-9766-0DB76C5735BC}">
          <p14:sldIdLst/>
        </p14:section>
        <p14:section name="任务一 正式实验" id="{5927AF92-7C86-454A-B28D-0D3B1490A593}">
          <p14:sldIdLst/>
        </p14:section>
        <p14:section name="任务二 练习阶段" id="{BB94CC88-2CC7-4AF0-9C31-870B24EA622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校准检查" id="{3042D2FD-0CD8-49A1-AFD3-664D3322830D}">
          <p14:sldIdLst>
            <p14:sldId id="271"/>
          </p14:sldIdLst>
        </p14:section>
        <p14:section name="任务二 正式实验" id="{5E91EF60-2A33-4FB8-BE00-B2C3CA6CD8E4}">
          <p14:sldIdLst>
            <p14:sldId id="282"/>
            <p14:sldId id="279"/>
          </p14:sldIdLst>
        </p14:section>
        <p14:section name="休息" id="{26012BFF-1DE9-446F-9DD3-89045F0C04AB}">
          <p14:sldIdLst>
            <p14:sldId id="278"/>
          </p14:sldIdLst>
        </p14:section>
        <p14:section name="结束语" id="{28F75763-BCD0-4109-BDB1-181BDD02B35D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3AEA94-00EF-4DE4-8FA3-F9ECAA6DD2CF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8145D6-6EE7-4E56-9B77-0EB069CF953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8593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17C6D-51B1-A2B9-407B-EC1594AE5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2E0947-CD30-F47E-AC19-08F15C357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16ED759-1A3B-611D-09EF-82D272503C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BEF35C-D72B-D587-6142-DFD3D85986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921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8145D6-6EE7-4E56-9B77-0EB069CF953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63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8CF9-D355-E61B-3E2A-597786EF2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93C883E-F261-81A6-F25F-363B8CDA0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CE5D31-C7B2-D4EB-4584-4C51C6FDC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13D9FF-D746-6004-1723-B5A4C849CF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9964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18500-93EF-85D7-34F2-DD74A94BD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FF885C-BD9D-167B-C87C-EBFF0942D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CBC027E-140B-D0E6-5FCD-0E3B97EB5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015377D-645F-44C7-E279-E2220DBFF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2277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595AF-4D91-8ADD-3C92-B100FFD5B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09D572-36B3-959B-ABF8-CD6CD0F1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07508C-B834-B018-D40D-A20E5970E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B714AB-817A-2FAB-674D-2C962E60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8454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595AF-4D91-8ADD-3C92-B100FFD5B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09D572-36B3-959B-ABF8-CD6CD0F1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07508C-B834-B018-D40D-A20E5970E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B714AB-817A-2FAB-674D-2C962E60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5597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595AF-4D91-8ADD-3C92-B100FFD5B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09D572-36B3-959B-ABF8-CD6CD0F1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07508C-B834-B018-D40D-A20E5970E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B714AB-817A-2FAB-674D-2C962E60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1602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595AF-4D91-8ADD-3C92-B100FFD5B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09D572-36B3-959B-ABF8-CD6CD0F1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07508C-B834-B018-D40D-A20E5970E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B714AB-817A-2FAB-674D-2C962E60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9737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595AF-4D91-8ADD-3C92-B100FFD5B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09D572-36B3-959B-ABF8-CD6CD0F1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007508C-B834-B018-D40D-A20E5970E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B714AB-817A-2FAB-674D-2C962E60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8145D6-6EE7-4E56-9B77-0EB069CF953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6977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29F4A1-AD2D-E951-7E77-50F719F70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5DEE23C-0BFC-CF14-966E-9A9EF7FFEB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6B50ED3-C925-4C9F-AF96-30364E25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0D545F-CF60-C401-8705-CD824D059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9D0BFC-F6FD-8B69-4CF9-F9D6A5A15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759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A45296-FA7D-ED0E-9D67-A28B3A089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68BCF90-75F7-C750-51C4-D6437A4AC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845C8C-6488-E13A-2EE9-F4E3AC958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5C8326-7099-5915-F97A-685E5EA30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E4E57D-B5C3-E3DC-CF6E-8D72D75B9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6409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9AED2B-2837-74A5-F364-C7814C689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C3708C-BBE6-27D0-DC03-1AB9C644A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46BA4E-8314-52C6-4F09-912D51DFC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21C99F-94F0-23A3-0C51-7FEDC80DC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DCF9E6-F372-8CB2-A920-ACE1B7E89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470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405BFE-A7DE-6407-E453-E1DE4719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D43B15-4A3E-FEE7-7F2C-1F5DD0EB36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3BEA86A-44E2-5064-2953-87A1D42BD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2503B7-C104-981A-5E7E-23A3F2336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862DC97-40C5-C724-0D00-3F1AFAE3E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AAE60B-82D2-1B61-CA6A-5789BB252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181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30657-506C-F52D-B62A-68F12684D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9E595A-D23D-4CE2-A0AB-97969BF5C7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4FCED8-1441-2108-93EB-AD11CE64FD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CE6F929-CC70-411B-CD83-E6C755F602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0582779-C89F-0E70-4A62-68AAD99AE5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1C07A9-30B5-3A6D-A039-B6A9BC182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03D78B1-6C80-D6CA-DFC5-887A2E3A0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1D06ECB-97FD-60F0-0EE3-89A53D0DF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4611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A33221-82B5-3B8A-4DD7-55F218A72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DBD064C-7071-C92B-F149-C87086BF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C8AC94B-6C6E-7372-CFF0-B2F3388E8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0DC035-3D93-213F-797B-88F94A16D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6131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478C58C-97E0-1FAB-5763-9BD5FDED6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27335A9-6498-6A19-856D-07978EAA3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F85789-2542-9F4C-6116-D01CE7BC1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0815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2BAA6-6649-0340-22BF-2D2BC126E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54C7FE-9240-2FD8-3FB0-A34D0B75D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07FFAB-3A62-5DD2-870F-2D71586C6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C13F0D-F8D2-4630-2980-59DC5FFF4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1427BF-D7CB-F730-158C-6CBD077E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AEB92CA-5CE7-2FF7-B947-FFB6203D7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355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F4AF2E-7869-F054-8623-BE05721A0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6128F0C-FC05-FB5E-AA78-17A111F16D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D1BBBF4-6441-E2B3-ABA7-2A6BE853FF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FD8FEA-A7A3-F479-178A-A32A370F3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F906176-BC2B-58FF-7888-A307D5EFF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01369F-727D-9B10-356E-468648344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597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8789A6-BFDC-647F-4205-92F43A9F6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24EA3C5-8575-FE0F-A94D-BF68812BA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D04A5C-0323-0062-E1F9-FD08336CE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52FB99-7FC2-AFAD-2533-FE0627097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105879-CDDA-93B7-5B39-A260E0F11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0716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A5ED5A5-9A90-AD56-87C3-73979999EA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D39DA95-2B7A-D93D-ABCB-D36BA28D5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7711A8-FDAD-E276-761B-0E029B48E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ADF4FA-9C39-ADA9-8D5D-66F5E5682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D5C56D3-D2C8-DE1F-261A-878640A1C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26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55413AE-B903-8A94-2742-291487D46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6D6117-D52D-7466-DFF6-C2354132D1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D29266-FBD1-6E0E-A29B-2F540D8A24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5C1C0B-BEED-40A4-BB03-2B5E358FDD63}" type="datetimeFigureOut">
              <a:rPr lang="zh-CN" altLang="en-US" smtClean="0"/>
              <a:t>2026/4/18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F0C53E-0731-A0D2-6222-137EEF11FE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2143CC-EA11-7EC6-F147-C2BE7C0CB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8DC54-BAD1-41E2-8A34-E4BFC1AB4FE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0467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A67487-B495-73EF-0C40-4CAF1881E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F118879-3BFB-1B8E-3BFB-B9D777BF7CA3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感谢您拨冗参加实验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DFDBC39-8296-34D2-1B76-501581268130}"/>
              </a:ext>
            </a:extLst>
          </p:cNvPr>
          <p:cNvSpPr txBox="1"/>
          <p:nvPr/>
        </p:nvSpPr>
        <p:spPr>
          <a:xfrm>
            <a:off x="1500050" y="2382040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实验预计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用时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1</a:t>
            </a:r>
            <a:r>
              <a:rPr lang="en-US" altLang="zh-CN" sz="4000" b="1" u="sng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.5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小时</a:t>
            </a:r>
            <a:r>
              <a:rPr kumimoji="0" lang="zh-CN" altLang="en-US" sz="4000" b="1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，</a:t>
            </a:r>
            <a:r>
              <a:rPr kumimoji="0" lang="zh-CN" altLang="en-US" sz="400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期间可以休息</a:t>
            </a:r>
            <a:endParaRPr kumimoji="0" lang="en-US" altLang="zh-CN" sz="4000" i="0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认真完成实验，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平均可获</a:t>
            </a:r>
            <a:r>
              <a:rPr lang="en-US" altLang="zh-CN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75</a:t>
            </a:r>
            <a:r>
              <a:rPr kumimoji="0" lang="zh-CN" altLang="en-US" sz="4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元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C164F661-89EE-7A8A-0887-8BA838FC473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D0C01CA-264C-3AD1-83DB-35B1ACC1A0A7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8931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FEB121-89A3-2C5B-33D6-DCC489895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423443C-ECDB-27FC-EC2E-30D212A96F00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眼动仪校准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C5F08-0EA2-8169-5E16-3AF632413DD7}"/>
              </a:ext>
            </a:extLst>
          </p:cNvPr>
          <p:cNvSpPr txBox="1"/>
          <p:nvPr/>
        </p:nvSpPr>
        <p:spPr>
          <a:xfrm>
            <a:off x="1500050" y="1645919"/>
            <a:ext cx="9714412" cy="38337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您的后续任务需要通过注视完成，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校准精度越高，后续任务将越顺利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请在校准期间（约</a:t>
            </a:r>
            <a:r>
              <a:rPr lang="en-US" altLang="zh-CN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40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秒）</a:t>
            </a:r>
            <a:r>
              <a:rPr lang="zh-CN" altLang="en-US" sz="4000" b="1" u="sng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不要眯眼睛、克制眨眼、避免移动头部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，以提高校准精度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5D0711B-C20D-766D-7221-343ABB2B29A4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BB36C5-BAD9-246D-A410-A22FE3F8CAD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0407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B0E4C3-C437-D02E-946E-C65AD26C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C90E224E-A013-02E9-8885-23587C1888E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58521">
            <a:off x="6640559" y="3592152"/>
            <a:ext cx="2662361" cy="2676228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F370775B-C461-974A-5203-16C6F7EFDD04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眼动仪校准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591FB8-7411-8971-16A2-663A962CC126}"/>
              </a:ext>
            </a:extLst>
          </p:cNvPr>
          <p:cNvSpPr txBox="1"/>
          <p:nvPr/>
        </p:nvSpPr>
        <p:spPr>
          <a:xfrm>
            <a:off x="1500050" y="1645919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marR="0" lvl="0" indent="-74295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移动和转动头部，让屏幕上</a:t>
            </a:r>
            <a:r>
              <a:rPr lang="zh-CN" altLang="en-US" sz="4000" dirty="0">
                <a:solidFill>
                  <a:srgbClr val="FFFF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黄色的卡通小脸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与</a:t>
            </a:r>
            <a:r>
              <a:rPr lang="zh-CN" altLang="en-US" sz="4000" dirty="0">
                <a:solidFill>
                  <a:srgbClr val="00B0F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蓝圈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重合、双眼保持水平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E425E3-4FE2-80BB-1283-8B9484C33A4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5689DD-BEB7-31CF-DC16-CDDBCED3945A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5" name="箭头: 右 47">
            <a:extLst>
              <a:ext uri="{FF2B5EF4-FFF2-40B4-BE49-F238E27FC236}">
                <a16:creationId xmlns:a16="http://schemas.microsoft.com/office/drawing/2014/main" id="{AA58F636-4FC7-1CCE-7C87-F404657C76A7}"/>
              </a:ext>
            </a:extLst>
          </p:cNvPr>
          <p:cNvSpPr/>
          <p:nvPr/>
        </p:nvSpPr>
        <p:spPr>
          <a:xfrm rot="11591743" flipH="1" flipV="1">
            <a:off x="5466389" y="3919960"/>
            <a:ext cx="967507" cy="369302"/>
          </a:xfrm>
          <a:custGeom>
            <a:avLst/>
            <a:gdLst>
              <a:gd name="connsiteX0" fmla="*/ 0 w 551904"/>
              <a:gd name="connsiteY0" fmla="*/ 93006 h 306121"/>
              <a:gd name="connsiteX1" fmla="*/ 398844 w 551904"/>
              <a:gd name="connsiteY1" fmla="*/ 93006 h 306121"/>
              <a:gd name="connsiteX2" fmla="*/ 398844 w 551904"/>
              <a:gd name="connsiteY2" fmla="*/ 0 h 306121"/>
              <a:gd name="connsiteX3" fmla="*/ 551904 w 551904"/>
              <a:gd name="connsiteY3" fmla="*/ 153061 h 306121"/>
              <a:gd name="connsiteX4" fmla="*/ 398844 w 551904"/>
              <a:gd name="connsiteY4" fmla="*/ 306121 h 306121"/>
              <a:gd name="connsiteX5" fmla="*/ 398844 w 551904"/>
              <a:gd name="connsiteY5" fmla="*/ 213115 h 306121"/>
              <a:gd name="connsiteX6" fmla="*/ 0 w 551904"/>
              <a:gd name="connsiteY6" fmla="*/ 213115 h 306121"/>
              <a:gd name="connsiteX7" fmla="*/ 0 w 551904"/>
              <a:gd name="connsiteY7" fmla="*/ 93006 h 306121"/>
              <a:gd name="connsiteX0" fmla="*/ 40005 w 551904"/>
              <a:gd name="connsiteY0" fmla="*/ 123486 h 306121"/>
              <a:gd name="connsiteX1" fmla="*/ 398844 w 551904"/>
              <a:gd name="connsiteY1" fmla="*/ 93006 h 306121"/>
              <a:gd name="connsiteX2" fmla="*/ 398844 w 551904"/>
              <a:gd name="connsiteY2" fmla="*/ 0 h 306121"/>
              <a:gd name="connsiteX3" fmla="*/ 551904 w 551904"/>
              <a:gd name="connsiteY3" fmla="*/ 153061 h 306121"/>
              <a:gd name="connsiteX4" fmla="*/ 398844 w 551904"/>
              <a:gd name="connsiteY4" fmla="*/ 306121 h 306121"/>
              <a:gd name="connsiteX5" fmla="*/ 398844 w 551904"/>
              <a:gd name="connsiteY5" fmla="*/ 213115 h 306121"/>
              <a:gd name="connsiteX6" fmla="*/ 0 w 551904"/>
              <a:gd name="connsiteY6" fmla="*/ 213115 h 306121"/>
              <a:gd name="connsiteX7" fmla="*/ 40005 w 551904"/>
              <a:gd name="connsiteY7" fmla="*/ 123486 h 306121"/>
              <a:gd name="connsiteX0" fmla="*/ 0 w 551904"/>
              <a:gd name="connsiteY0" fmla="*/ 213115 h 306121"/>
              <a:gd name="connsiteX1" fmla="*/ 398844 w 551904"/>
              <a:gd name="connsiteY1" fmla="*/ 93006 h 306121"/>
              <a:gd name="connsiteX2" fmla="*/ 398844 w 551904"/>
              <a:gd name="connsiteY2" fmla="*/ 0 h 306121"/>
              <a:gd name="connsiteX3" fmla="*/ 551904 w 551904"/>
              <a:gd name="connsiteY3" fmla="*/ 153061 h 306121"/>
              <a:gd name="connsiteX4" fmla="*/ 398844 w 551904"/>
              <a:gd name="connsiteY4" fmla="*/ 306121 h 306121"/>
              <a:gd name="connsiteX5" fmla="*/ 398844 w 551904"/>
              <a:gd name="connsiteY5" fmla="*/ 213115 h 306121"/>
              <a:gd name="connsiteX6" fmla="*/ 0 w 551904"/>
              <a:gd name="connsiteY6" fmla="*/ 21311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599529"/>
              <a:gd name="connsiteY0" fmla="*/ 224545 h 306121"/>
              <a:gd name="connsiteX1" fmla="*/ 446469 w 599529"/>
              <a:gd name="connsiteY1" fmla="*/ 93006 h 306121"/>
              <a:gd name="connsiteX2" fmla="*/ 446469 w 599529"/>
              <a:gd name="connsiteY2" fmla="*/ 0 h 306121"/>
              <a:gd name="connsiteX3" fmla="*/ 599529 w 599529"/>
              <a:gd name="connsiteY3" fmla="*/ 153061 h 306121"/>
              <a:gd name="connsiteX4" fmla="*/ 446469 w 599529"/>
              <a:gd name="connsiteY4" fmla="*/ 306121 h 306121"/>
              <a:gd name="connsiteX5" fmla="*/ 446469 w 599529"/>
              <a:gd name="connsiteY5" fmla="*/ 213115 h 306121"/>
              <a:gd name="connsiteX6" fmla="*/ 0 w 599529"/>
              <a:gd name="connsiteY6" fmla="*/ 224545 h 306121"/>
              <a:gd name="connsiteX0" fmla="*/ 0 w 626199"/>
              <a:gd name="connsiteY0" fmla="*/ 300745 h 306121"/>
              <a:gd name="connsiteX1" fmla="*/ 473139 w 626199"/>
              <a:gd name="connsiteY1" fmla="*/ 93006 h 306121"/>
              <a:gd name="connsiteX2" fmla="*/ 473139 w 626199"/>
              <a:gd name="connsiteY2" fmla="*/ 0 h 306121"/>
              <a:gd name="connsiteX3" fmla="*/ 626199 w 626199"/>
              <a:gd name="connsiteY3" fmla="*/ 153061 h 306121"/>
              <a:gd name="connsiteX4" fmla="*/ 473139 w 626199"/>
              <a:gd name="connsiteY4" fmla="*/ 306121 h 306121"/>
              <a:gd name="connsiteX5" fmla="*/ 473139 w 626199"/>
              <a:gd name="connsiteY5" fmla="*/ 213115 h 306121"/>
              <a:gd name="connsiteX6" fmla="*/ 0 w 626199"/>
              <a:gd name="connsiteY6" fmla="*/ 300745 h 306121"/>
              <a:gd name="connsiteX0" fmla="*/ 0 w 626199"/>
              <a:gd name="connsiteY0" fmla="*/ 300745 h 306121"/>
              <a:gd name="connsiteX1" fmla="*/ 473139 w 626199"/>
              <a:gd name="connsiteY1" fmla="*/ 93006 h 306121"/>
              <a:gd name="connsiteX2" fmla="*/ 473139 w 626199"/>
              <a:gd name="connsiteY2" fmla="*/ 0 h 306121"/>
              <a:gd name="connsiteX3" fmla="*/ 626199 w 626199"/>
              <a:gd name="connsiteY3" fmla="*/ 153061 h 306121"/>
              <a:gd name="connsiteX4" fmla="*/ 473139 w 626199"/>
              <a:gd name="connsiteY4" fmla="*/ 306121 h 306121"/>
              <a:gd name="connsiteX5" fmla="*/ 473139 w 626199"/>
              <a:gd name="connsiteY5" fmla="*/ 213115 h 306121"/>
              <a:gd name="connsiteX6" fmla="*/ 0 w 626199"/>
              <a:gd name="connsiteY6" fmla="*/ 300745 h 306121"/>
              <a:gd name="connsiteX0" fmla="*/ 0 w 679539"/>
              <a:gd name="connsiteY0" fmla="*/ 300745 h 306121"/>
              <a:gd name="connsiteX1" fmla="*/ 473139 w 679539"/>
              <a:gd name="connsiteY1" fmla="*/ 93006 h 306121"/>
              <a:gd name="connsiteX2" fmla="*/ 473139 w 679539"/>
              <a:gd name="connsiteY2" fmla="*/ 0 h 306121"/>
              <a:gd name="connsiteX3" fmla="*/ 679539 w 679539"/>
              <a:gd name="connsiteY3" fmla="*/ 154966 h 306121"/>
              <a:gd name="connsiteX4" fmla="*/ 473139 w 679539"/>
              <a:gd name="connsiteY4" fmla="*/ 306121 h 306121"/>
              <a:gd name="connsiteX5" fmla="*/ 473139 w 679539"/>
              <a:gd name="connsiteY5" fmla="*/ 213115 h 306121"/>
              <a:gd name="connsiteX6" fmla="*/ 0 w 679539"/>
              <a:gd name="connsiteY6" fmla="*/ 300745 h 306121"/>
              <a:gd name="connsiteX0" fmla="*/ 0 w 679539"/>
              <a:gd name="connsiteY0" fmla="*/ 300745 h 306121"/>
              <a:gd name="connsiteX1" fmla="*/ 526479 w 679539"/>
              <a:gd name="connsiteY1" fmla="*/ 121581 h 306121"/>
              <a:gd name="connsiteX2" fmla="*/ 473139 w 679539"/>
              <a:gd name="connsiteY2" fmla="*/ 0 h 306121"/>
              <a:gd name="connsiteX3" fmla="*/ 679539 w 679539"/>
              <a:gd name="connsiteY3" fmla="*/ 154966 h 306121"/>
              <a:gd name="connsiteX4" fmla="*/ 473139 w 679539"/>
              <a:gd name="connsiteY4" fmla="*/ 306121 h 306121"/>
              <a:gd name="connsiteX5" fmla="*/ 473139 w 679539"/>
              <a:gd name="connsiteY5" fmla="*/ 213115 h 306121"/>
              <a:gd name="connsiteX6" fmla="*/ 0 w 679539"/>
              <a:gd name="connsiteY6" fmla="*/ 300745 h 306121"/>
              <a:gd name="connsiteX0" fmla="*/ 0 w 679539"/>
              <a:gd name="connsiteY0" fmla="*/ 300745 h 306121"/>
              <a:gd name="connsiteX1" fmla="*/ 526479 w 679539"/>
              <a:gd name="connsiteY1" fmla="*/ 121581 h 306121"/>
              <a:gd name="connsiteX2" fmla="*/ 473139 w 679539"/>
              <a:gd name="connsiteY2" fmla="*/ 0 h 306121"/>
              <a:gd name="connsiteX3" fmla="*/ 679539 w 679539"/>
              <a:gd name="connsiteY3" fmla="*/ 154966 h 306121"/>
              <a:gd name="connsiteX4" fmla="*/ 473139 w 679539"/>
              <a:gd name="connsiteY4" fmla="*/ 306121 h 306121"/>
              <a:gd name="connsiteX5" fmla="*/ 534099 w 679539"/>
              <a:gd name="connsiteY5" fmla="*/ 201685 h 306121"/>
              <a:gd name="connsiteX6" fmla="*/ 0 w 679539"/>
              <a:gd name="connsiteY6" fmla="*/ 300745 h 306121"/>
              <a:gd name="connsiteX0" fmla="*/ 0 w 679539"/>
              <a:gd name="connsiteY0" fmla="*/ 268360 h 273736"/>
              <a:gd name="connsiteX1" fmla="*/ 526479 w 679539"/>
              <a:gd name="connsiteY1" fmla="*/ 89196 h 273736"/>
              <a:gd name="connsiteX2" fmla="*/ 490284 w 679539"/>
              <a:gd name="connsiteY2" fmla="*/ 0 h 273736"/>
              <a:gd name="connsiteX3" fmla="*/ 679539 w 679539"/>
              <a:gd name="connsiteY3" fmla="*/ 122581 h 273736"/>
              <a:gd name="connsiteX4" fmla="*/ 473139 w 679539"/>
              <a:gd name="connsiteY4" fmla="*/ 273736 h 273736"/>
              <a:gd name="connsiteX5" fmla="*/ 534099 w 679539"/>
              <a:gd name="connsiteY5" fmla="*/ 169300 h 273736"/>
              <a:gd name="connsiteX6" fmla="*/ 0 w 679539"/>
              <a:gd name="connsiteY6" fmla="*/ 268360 h 273736"/>
              <a:gd name="connsiteX0" fmla="*/ 0 w 679539"/>
              <a:gd name="connsiteY0" fmla="*/ 268360 h 268360"/>
              <a:gd name="connsiteX1" fmla="*/ 526479 w 679539"/>
              <a:gd name="connsiteY1" fmla="*/ 89196 h 268360"/>
              <a:gd name="connsiteX2" fmla="*/ 490284 w 679539"/>
              <a:gd name="connsiteY2" fmla="*/ 0 h 268360"/>
              <a:gd name="connsiteX3" fmla="*/ 679539 w 679539"/>
              <a:gd name="connsiteY3" fmla="*/ 122581 h 268360"/>
              <a:gd name="connsiteX4" fmla="*/ 473139 w 679539"/>
              <a:gd name="connsiteY4" fmla="*/ 252781 h 268360"/>
              <a:gd name="connsiteX5" fmla="*/ 534099 w 679539"/>
              <a:gd name="connsiteY5" fmla="*/ 169300 h 268360"/>
              <a:gd name="connsiteX6" fmla="*/ 0 w 679539"/>
              <a:gd name="connsiteY6" fmla="*/ 268360 h 268360"/>
              <a:gd name="connsiteX0" fmla="*/ 0 w 679539"/>
              <a:gd name="connsiteY0" fmla="*/ 268360 h 268360"/>
              <a:gd name="connsiteX1" fmla="*/ 526479 w 679539"/>
              <a:gd name="connsiteY1" fmla="*/ 89196 h 268360"/>
              <a:gd name="connsiteX2" fmla="*/ 490284 w 679539"/>
              <a:gd name="connsiteY2" fmla="*/ 0 h 268360"/>
              <a:gd name="connsiteX3" fmla="*/ 679539 w 679539"/>
              <a:gd name="connsiteY3" fmla="*/ 122581 h 268360"/>
              <a:gd name="connsiteX4" fmla="*/ 495999 w 679539"/>
              <a:gd name="connsiteY4" fmla="*/ 256591 h 268360"/>
              <a:gd name="connsiteX5" fmla="*/ 534099 w 679539"/>
              <a:gd name="connsiteY5" fmla="*/ 169300 h 268360"/>
              <a:gd name="connsiteX6" fmla="*/ 0 w 679539"/>
              <a:gd name="connsiteY6" fmla="*/ 268360 h 268360"/>
              <a:gd name="connsiteX0" fmla="*/ 0 w 679539"/>
              <a:gd name="connsiteY0" fmla="*/ 268360 h 273736"/>
              <a:gd name="connsiteX1" fmla="*/ 526479 w 679539"/>
              <a:gd name="connsiteY1" fmla="*/ 89196 h 273736"/>
              <a:gd name="connsiteX2" fmla="*/ 490284 w 679539"/>
              <a:gd name="connsiteY2" fmla="*/ 0 h 273736"/>
              <a:gd name="connsiteX3" fmla="*/ 679539 w 679539"/>
              <a:gd name="connsiteY3" fmla="*/ 122581 h 273736"/>
              <a:gd name="connsiteX4" fmla="*/ 503619 w 679539"/>
              <a:gd name="connsiteY4" fmla="*/ 273736 h 273736"/>
              <a:gd name="connsiteX5" fmla="*/ 534099 w 679539"/>
              <a:gd name="connsiteY5" fmla="*/ 169300 h 273736"/>
              <a:gd name="connsiteX6" fmla="*/ 0 w 679539"/>
              <a:gd name="connsiteY6" fmla="*/ 268360 h 273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539" h="273736">
                <a:moveTo>
                  <a:pt x="0" y="268360"/>
                </a:moveTo>
                <a:cubicBezTo>
                  <a:pt x="213593" y="91164"/>
                  <a:pt x="417661" y="112087"/>
                  <a:pt x="526479" y="89196"/>
                </a:cubicBezTo>
                <a:lnTo>
                  <a:pt x="490284" y="0"/>
                </a:lnTo>
                <a:lnTo>
                  <a:pt x="679539" y="122581"/>
                </a:lnTo>
                <a:lnTo>
                  <a:pt x="503619" y="273736"/>
                </a:lnTo>
                <a:lnTo>
                  <a:pt x="534099" y="169300"/>
                </a:lnTo>
                <a:cubicBezTo>
                  <a:pt x="482431" y="159775"/>
                  <a:pt x="316463" y="146440"/>
                  <a:pt x="0" y="268360"/>
                </a:cubicBez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29575B7-BDA5-8D63-ECF8-1BB61A6A3965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clrChange>
              <a:clrFrom>
                <a:srgbClr val="7F7F7F"/>
              </a:clrFrom>
              <a:clrTo>
                <a:srgbClr val="7F7F7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2141" y="3000449"/>
            <a:ext cx="4629051" cy="348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904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4D69A7-4C36-3F1B-1654-1DE0DAEC0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C5BBD893-F7EF-A4FC-5B77-7665017BA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201" y="3107101"/>
            <a:ext cx="6046890" cy="340137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1D0EC46-D1AA-F348-2E0F-6647A13F367B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眼动仪校准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1319073-809A-D8AF-2950-FC1671E9CB4A}"/>
              </a:ext>
            </a:extLst>
          </p:cNvPr>
          <p:cNvSpPr txBox="1"/>
          <p:nvPr/>
        </p:nvSpPr>
        <p:spPr>
          <a:xfrm>
            <a:off x="1500050" y="1645919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marR="0" lvl="0" indent="-74295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按空格开始校准，用眼睛追踪光斑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R="0" lvl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	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6EC34A-CEFE-B585-6D66-326216A4F36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C12D16-7A78-1EF3-E080-255CF26E0A59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3C289523-D0A8-F8E6-E11B-69065BBFB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127" y="1880371"/>
            <a:ext cx="371478" cy="385765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837A87E2-5DFF-1AFF-A08C-F6137FA2DF3C}"/>
              </a:ext>
            </a:extLst>
          </p:cNvPr>
          <p:cNvSpPr txBox="1"/>
          <p:nvPr/>
        </p:nvSpPr>
        <p:spPr>
          <a:xfrm>
            <a:off x="2863968" y="4382220"/>
            <a:ext cx="33470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i="1" dirty="0">
                <a:latin typeface="楷体" panose="02010609060101010101" pitchFamily="49" charset="-122"/>
                <a:ea typeface="楷体" panose="02010609060101010101" pitchFamily="49" charset="-122"/>
              </a:rPr>
              <a:t>至此界面校准完成</a:t>
            </a:r>
            <a:endParaRPr lang="en-US" altLang="zh-CN" sz="2000" i="1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zh-CN" altLang="en-US" sz="2000" i="1" dirty="0">
                <a:latin typeface="楷体" panose="02010609060101010101" pitchFamily="49" charset="-122"/>
                <a:ea typeface="楷体" panose="02010609060101010101" pitchFamily="49" charset="-122"/>
              </a:rPr>
              <a:t>按 </a:t>
            </a:r>
            <a:r>
              <a:rPr lang="zh-CN" altLang="en-US" sz="2000" u="sng" dirty="0"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lang="zh-CN" altLang="en-US" sz="2000" i="1" dirty="0">
                <a:latin typeface="楷体" panose="02010609060101010101" pitchFamily="49" charset="-122"/>
                <a:ea typeface="楷体" panose="02010609060101010101" pitchFamily="49" charset="-122"/>
              </a:rPr>
              <a:t>开始实验任务</a:t>
            </a:r>
          </a:p>
        </p:txBody>
      </p:sp>
    </p:spTree>
    <p:extLst>
      <p:ext uri="{BB962C8B-B14F-4D97-AF65-F5344CB8AC3E}">
        <p14:creationId xmlns:p14="http://schemas.microsoft.com/office/powerpoint/2010/main" val="122744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887-FDAE-5D28-5A83-358A6535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8189A07-5028-CF59-BD1F-520C9074F56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自由观看任务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11D47E1-58E3-DAD6-86CC-55DD5DE9E0E3}"/>
              </a:ext>
            </a:extLst>
          </p:cNvPr>
          <p:cNvSpPr txBox="1"/>
          <p:nvPr/>
        </p:nvSpPr>
        <p:spPr>
          <a:xfrm>
            <a:off x="1500050" y="2192258"/>
            <a:ext cx="9714412" cy="2319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任务会自动结束，无需操作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不要长时间闭眼、不要移动头部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1048BD8-6DCE-FBAA-1570-EC17A11EA40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A655ADE-F740-036F-2930-AD5E3E59F73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4101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887-FDAE-5D28-5A83-358A6535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8189A07-5028-CF59-BD1F-520C9074F56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自由观看任务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1048BD8-6DCE-FBAA-1570-EC17A11EA40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A655ADE-F740-036F-2930-AD5E3E59F73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35590A3-AB2D-D1BE-3A23-15C891C6DA60}"/>
              </a:ext>
            </a:extLst>
          </p:cNvPr>
          <p:cNvSpPr txBox="1"/>
          <p:nvPr/>
        </p:nvSpPr>
        <p:spPr>
          <a:xfrm>
            <a:off x="1452985" y="2547984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首先，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请盯住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中央黑圈，按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即可开始一次任务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479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887-FDAE-5D28-5A83-358A6535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8189A07-5028-CF59-BD1F-520C9074F56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自由观看任务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11D47E1-58E3-DAD6-86CC-55DD5DE9E0E3}"/>
              </a:ext>
            </a:extLst>
          </p:cNvPr>
          <p:cNvSpPr txBox="1"/>
          <p:nvPr/>
        </p:nvSpPr>
        <p:spPr>
          <a:xfrm>
            <a:off x="1452985" y="2048254"/>
            <a:ext cx="9714412" cy="2294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按键被识别后，中间的圆点将消失，并出现一个环形花纹，大部分情况下，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只需自由、随意地观察，无需按键操作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1048BD8-6DCE-FBAA-1570-EC17A11EA40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A655ADE-F740-036F-2930-AD5E3E59F73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51546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887-FDAE-5D28-5A83-358A6535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8189A07-5028-CF59-BD1F-520C9074F56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自由观看任务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11D47E1-58E3-DAD6-86CC-55DD5DE9E0E3}"/>
              </a:ext>
            </a:extLst>
          </p:cNvPr>
          <p:cNvSpPr txBox="1"/>
          <p:nvPr/>
        </p:nvSpPr>
        <p:spPr>
          <a:xfrm>
            <a:off x="1452985" y="2565408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但是，少数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纹理中会渐渐出现一个光斑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，一旦发现，请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尽快按右侧</a:t>
            </a:r>
            <a:r>
              <a:rPr lang="en-US" altLang="zh-CN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Ctrl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键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1048BD8-6DCE-FBAA-1570-EC17A11EA40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A655ADE-F740-036F-2930-AD5E3E59F73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17932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887-FDAE-5D28-5A83-358A6535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8189A07-5028-CF59-BD1F-520C9074F56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自由观看任务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1048BD8-6DCE-FBAA-1570-EC17A11EA407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A655ADE-F740-036F-2930-AD5E3E59F73C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D78807C-25C4-557F-A361-DD2B1B558B47}"/>
              </a:ext>
            </a:extLst>
          </p:cNvPr>
          <p:cNvSpPr txBox="1"/>
          <p:nvPr/>
        </p:nvSpPr>
        <p:spPr>
          <a:xfrm>
            <a:off x="1500049" y="1976758"/>
            <a:ext cx="10029963" cy="3064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大部分任务会自动结束，无需操作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若发现有小光斑出现，尽快按右侧</a:t>
            </a:r>
            <a:r>
              <a:rPr lang="en-US" altLang="zh-CN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Ctrl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键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不要长时间闭眼、不要移动头部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A493DA2-9692-9F98-2E5E-C9C75295F964}"/>
              </a:ext>
            </a:extLst>
          </p:cNvPr>
          <p:cNvSpPr/>
          <p:nvPr/>
        </p:nvSpPr>
        <p:spPr>
          <a:xfrm>
            <a:off x="6825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Backspace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22EC756-59CA-7246-D1A8-5D78A71A2161}"/>
              </a:ext>
            </a:extLst>
          </p:cNvPr>
          <p:cNvSpPr txBox="1"/>
          <p:nvPr/>
        </p:nvSpPr>
        <p:spPr>
          <a:xfrm>
            <a:off x="290651" y="5523102"/>
            <a:ext cx="4002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lang="zh-CN" altLang="en-US" sz="2800" b="1" u="sng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退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重看示例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82290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EDB04CB-2715-9705-511C-D5A184A7CF22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dirty="0">
                <a:latin typeface="楷体" panose="02010609060101010101" pitchFamily="49" charset="-122"/>
                <a:ea typeface="楷体" panose="02010609060101010101" pitchFamily="49" charset="-122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9305019-0EE5-749E-994F-544D1011CE7D}"/>
              </a:ext>
            </a:extLst>
          </p:cNvPr>
          <p:cNvSpPr txBox="1"/>
          <p:nvPr/>
        </p:nvSpPr>
        <p:spPr>
          <a:xfrm>
            <a:off x="1500050" y="1645919"/>
            <a:ext cx="9714412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黑点按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，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kumimoji="0" lang="zh-CN" altLang="en-US" sz="400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kumimoji="0" lang="en-US" altLang="zh-CN" sz="4000" i="0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A2E032D-AF93-BF4B-1810-0D36A9043BE2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D70BD79-C266-7A80-F5D1-B58B5D1BC795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52499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AD8C95-8895-357D-700F-23BD971CC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6FE46C2-ED6A-E66D-D19C-FB6F83546E73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E78935-2303-B61E-B7B0-1EFBACF86016}"/>
              </a:ext>
            </a:extLst>
          </p:cNvPr>
          <p:cNvSpPr txBox="1"/>
          <p:nvPr/>
        </p:nvSpPr>
        <p:spPr>
          <a:xfrm>
            <a:off x="1500050" y="1645919"/>
            <a:ext cx="9714412" cy="1525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B8A0B00-FC89-2235-BE81-C8F66575014C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4C2EFC-240A-D3CC-F6A3-7CA541F34AB7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8D61E5B5-4322-7BE2-865E-BA96F6A0108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682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893CF8-50F8-8BC9-EF54-69D8DEBE3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4B65C78-7C0D-B2A3-F59F-A227D65C21F8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1B9AF2D-EF0E-4241-AEA8-2EAC03F2282A}"/>
              </a:ext>
            </a:extLst>
          </p:cNvPr>
          <p:cNvSpPr txBox="1"/>
          <p:nvPr/>
        </p:nvSpPr>
        <p:spPr>
          <a:xfrm>
            <a:off x="1500050" y="1645919"/>
            <a:ext cx="9714412" cy="22948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9C7F6E9-147F-DD4E-BDD7-221D4334DBF0}"/>
              </a:ext>
            </a:extLst>
          </p:cNvPr>
          <p:cNvSpPr/>
          <p:nvPr/>
        </p:nvSpPr>
        <p:spPr>
          <a:xfrm>
            <a:off x="7878103" y="403642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9C6A330-9033-38CB-41DA-1B40FEB7CA39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BEEF60-50DF-8D40-D64D-6123EC324982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pic>
        <p:nvPicPr>
          <p:cNvPr id="7" name="图片 6" descr="卡通人物&#10;&#10;低可信度描述已自动生成">
            <a:extLst>
              <a:ext uri="{FF2B5EF4-FFF2-40B4-BE49-F238E27FC236}">
                <a16:creationId xmlns:a16="http://schemas.microsoft.com/office/drawing/2014/main" id="{E7D74646-65BE-1179-3C37-8F446D7C2F0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457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0652D7-AE54-4794-B346-5B2D7F48F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29827CC-8220-DA63-6D70-77634309C8B4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3CD441E-F638-7052-0586-F628B5C4F852}"/>
              </a:ext>
            </a:extLst>
          </p:cNvPr>
          <p:cNvSpPr txBox="1"/>
          <p:nvPr/>
        </p:nvSpPr>
        <p:spPr>
          <a:xfrm>
            <a:off x="1500050" y="1645919"/>
            <a:ext cx="9714412" cy="3064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449E9047-EAF4-05FC-FB29-6F6E775AF378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8E47240-3877-724D-94DC-B400FA2B0908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435F5E-2FA4-C290-C4C7-0A531F976A59}"/>
              </a:ext>
            </a:extLst>
          </p:cNvPr>
          <p:cNvSpPr/>
          <p:nvPr/>
        </p:nvSpPr>
        <p:spPr>
          <a:xfrm>
            <a:off x="7942221" y="4757139"/>
            <a:ext cx="581294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M</a:t>
            </a:r>
            <a:endParaRPr lang="zh-CN" altLang="en-US" b="1" dirty="0"/>
          </a:p>
        </p:txBody>
      </p:sp>
      <p:pic>
        <p:nvPicPr>
          <p:cNvPr id="7" name="图片 6" descr="卡通人物&#10;&#10;低可信度描述已自动生成">
            <a:extLst>
              <a:ext uri="{FF2B5EF4-FFF2-40B4-BE49-F238E27FC236}">
                <a16:creationId xmlns:a16="http://schemas.microsoft.com/office/drawing/2014/main" id="{F16DC42E-04B4-6C19-A4E5-F0AEF946B5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820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CEC1BA-77EB-0163-262B-69A242926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CE6233A-334B-C101-7F9F-161C0D47A456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A1EC43-90AE-A0F0-F4BD-9A8211C873A6}"/>
              </a:ext>
            </a:extLst>
          </p:cNvPr>
          <p:cNvSpPr txBox="1"/>
          <p:nvPr/>
        </p:nvSpPr>
        <p:spPr>
          <a:xfrm>
            <a:off x="1500050" y="1645919"/>
            <a:ext cx="9714412" cy="38337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注视位置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出现蓝色圆点  表示回答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正确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0DC6F25-8E97-976B-A047-64219172E155}"/>
              </a:ext>
            </a:extLst>
          </p:cNvPr>
          <p:cNvSpPr/>
          <p:nvPr/>
        </p:nvSpPr>
        <p:spPr>
          <a:xfrm>
            <a:off x="7491547" y="4976951"/>
            <a:ext cx="306977" cy="30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53B336-37C1-ABDB-13B7-A199FE136DAD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459190-D889-C999-CE21-824606FEE97E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”继续</a:t>
            </a:r>
            <a:endParaRPr lang="zh-CN" altLang="en-US" sz="1200" dirty="0"/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99DFA79E-0FCF-EC9B-3467-B940E584555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12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7CFC86-901F-CDB7-253E-1DC84EFA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CFDA22B-07D0-9092-BD3A-A5D3689E278B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练习阶段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0C527D1-3F6D-B86E-8D8F-D1A482BA5B5A}"/>
              </a:ext>
            </a:extLst>
          </p:cNvPr>
          <p:cNvSpPr txBox="1"/>
          <p:nvPr/>
        </p:nvSpPr>
        <p:spPr>
          <a:xfrm>
            <a:off x="1500050" y="1645919"/>
            <a:ext cx="9714412" cy="4603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余光发现光栅时立刻按下“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注视位置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出现蓝色圆点  表示回答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正确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连续做对</a:t>
            </a:r>
            <a:r>
              <a:rPr kumimoji="0" lang="en-US" altLang="zh-CN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10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次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即可通过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EE5533C-453C-2085-11B2-E9FA2DCA9CE7}"/>
              </a:ext>
            </a:extLst>
          </p:cNvPr>
          <p:cNvSpPr/>
          <p:nvPr/>
        </p:nvSpPr>
        <p:spPr>
          <a:xfrm>
            <a:off x="7471954" y="4976951"/>
            <a:ext cx="306977" cy="30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F648DF66-1849-31FD-9C0E-B6F9ED44623B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D29BDF1-757D-786B-3121-AA7BBCB86AE3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lang="zh-CN" altLang="en-US" sz="2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  <a:endParaRPr lang="zh-CN" altLang="en-US" sz="1200" b="1" dirty="0">
              <a:solidFill>
                <a:srgbClr val="FF0000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D76044CE-4457-84F9-A939-A2300E70AB2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5907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909AE4-CEF5-3038-F461-47B481C8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ACB186-67A8-6A9F-7A20-E3DDA1CA21A1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校准检查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2D65877-E42C-81B3-A6FB-C196DCFF152F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space</a:t>
            </a:r>
            <a:endParaRPr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8D8DDD7-45BB-0FDB-A988-13268DA03ADA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继续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93D2270-F3E7-5B66-B3AD-C40E1DECFFC2}"/>
              </a:ext>
            </a:extLst>
          </p:cNvPr>
          <p:cNvSpPr/>
          <p:nvPr/>
        </p:nvSpPr>
        <p:spPr>
          <a:xfrm>
            <a:off x="855621" y="6115676"/>
            <a:ext cx="1436911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="1" dirty="0">
                <a:solidFill>
                  <a:prstClr val="white"/>
                </a:solidFill>
                <a:latin typeface="等线" panose="02110004020202020204"/>
                <a:ea typeface="等线" panose="02010600030101010101" pitchFamily="2" charset="-122"/>
              </a:rPr>
              <a:t>B</a:t>
            </a:r>
            <a:r>
              <a:rPr kumimoji="0" lang="en-US" altLang="zh-CN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ackspace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A7806CA-9AB3-FE0A-5C7A-7B1E8BB7AC3E}"/>
              </a:ext>
            </a:extLst>
          </p:cNvPr>
          <p:cNvSpPr txBox="1"/>
          <p:nvPr/>
        </p:nvSpPr>
        <p:spPr>
          <a:xfrm>
            <a:off x="148051" y="5523102"/>
            <a:ext cx="39079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lang="zh-CN" altLang="en-US" sz="2800" b="1" u="sng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退格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重新校准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FCEC4D7-D282-4599-18C9-E6C7B9CEC9E7}"/>
              </a:ext>
            </a:extLst>
          </p:cNvPr>
          <p:cNvSpPr txBox="1"/>
          <p:nvPr/>
        </p:nvSpPr>
        <p:spPr>
          <a:xfrm>
            <a:off x="2093343" y="2958738"/>
            <a:ext cx="80053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zh-CN" altLang="en-US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蓝色圆点  与注视位置重合吗？</a:t>
            </a:r>
            <a:endParaRPr lang="zh-CN" altLang="en-US" sz="2000" b="1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3EE62B2-93F5-7B6F-FA26-7ACDBDD9E0D9}"/>
              </a:ext>
            </a:extLst>
          </p:cNvPr>
          <p:cNvSpPr/>
          <p:nvPr/>
        </p:nvSpPr>
        <p:spPr>
          <a:xfrm>
            <a:off x="4499089" y="3127081"/>
            <a:ext cx="432754" cy="43275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4396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D91545-4F1F-9411-2960-5739C3EF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C19970D-795F-8CA4-674B-CE3516C7E879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正式实验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BF8823-E7CD-5669-CB54-04211FDD59C1}"/>
              </a:ext>
            </a:extLst>
          </p:cNvPr>
          <p:cNvSpPr txBox="1"/>
          <p:nvPr/>
        </p:nvSpPr>
        <p:spPr>
          <a:xfrm>
            <a:off x="1500050" y="1645919"/>
            <a:ext cx="9714412" cy="4603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盯住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黑点按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空格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，</a:t>
            </a:r>
            <a:r>
              <a:rPr lang="zh-CN" altLang="en-US" sz="4000" b="1" u="sng" dirty="0">
                <a:solidFill>
                  <a:prstClr val="black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自由观察</a:t>
            </a:r>
            <a:r>
              <a:rPr lang="zh-CN" altLang="en-US" sz="40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出现的纹理</a:t>
            </a:r>
            <a:endParaRPr lang="en-US" altLang="zh-CN" sz="40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5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</a:rPr>
              <a:t>秒内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找到藏在黑白花纹中的小光栅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发现光栅时立刻按下“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空格键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用眼睛盯住光栅后按下“</a:t>
            </a:r>
            <a:r>
              <a:rPr kumimoji="0" lang="en-US" altLang="zh-CN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M</a:t>
            </a: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4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注视位置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出现蓝色圆点  表示回答</a:t>
            </a: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正确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  <a:p>
            <a:pPr marL="685800" marR="0" lvl="0" indent="-68580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共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24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组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×2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分钟，休息</a:t>
            </a:r>
            <a:r>
              <a:rPr kumimoji="0" lang="en-US" altLang="zh-CN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10</a:t>
            </a: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秒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C58A188-F879-48FC-4777-4ABD0F9204F7}"/>
              </a:ext>
            </a:extLst>
          </p:cNvPr>
          <p:cNvSpPr/>
          <p:nvPr/>
        </p:nvSpPr>
        <p:spPr>
          <a:xfrm>
            <a:off x="7471954" y="4976951"/>
            <a:ext cx="306977" cy="30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BCB5E52-C679-1B08-ED22-E1B50D22AA03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28665A7-B7D3-D636-B10E-1E9DE83C5995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</a:rPr>
              <a:t>继续</a:t>
            </a:r>
            <a:endParaRPr kumimoji="0" lang="zh-CN" altLang="en-US" sz="12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37F18B09-1B83-9ABE-94DC-CBDE5C0123A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60046" y="2545831"/>
            <a:ext cx="610009" cy="596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203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D91545-4F1F-9411-2960-5739C3EF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C19970D-795F-8CA4-674B-CE3516C7E879}"/>
              </a:ext>
            </a:extLst>
          </p:cNvPr>
          <p:cNvSpPr txBox="1"/>
          <p:nvPr/>
        </p:nvSpPr>
        <p:spPr>
          <a:xfrm>
            <a:off x="2729049" y="515981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正式实验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BF8823-E7CD-5669-CB54-04211FDD59C1}"/>
              </a:ext>
            </a:extLst>
          </p:cNvPr>
          <p:cNvSpPr txBox="1"/>
          <p:nvPr/>
        </p:nvSpPr>
        <p:spPr>
          <a:xfrm>
            <a:off x="1037571" y="1612442"/>
            <a:ext cx="10504571" cy="4152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小光斑颜色会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变淡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从而提高难度，但是</a:t>
            </a: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形状、大小、纹理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都不会变，请确认找到再按键。</a:t>
            </a:r>
            <a:endParaRPr lang="en-US" altLang="zh-CN" sz="36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zh-CN" altLang="en-US" sz="36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因难度提高，可能只能找到一半，</a:t>
            </a:r>
            <a:r>
              <a:rPr lang="zh-CN" altLang="en-US" sz="3600" b="1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这是正常的</a:t>
            </a:r>
            <a:r>
              <a:rPr lang="zh-CN" altLang="en-US" sz="36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。</a:t>
            </a:r>
          </a:p>
          <a:p>
            <a:pPr marL="685800" lvl="0" indent="-685800">
              <a:lnSpc>
                <a:spcPct val="125000"/>
              </a:lnSpc>
              <a:buFont typeface="Wingdings" panose="05000000000000000000" pitchFamily="2" charset="2"/>
              <a:buChar char="p"/>
              <a:defRPr/>
            </a:pPr>
            <a:r>
              <a:rPr lang="en-US" altLang="zh-CN" sz="36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lang="zh-CN" altLang="en-US" sz="36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秒计时结束后，程序会自动帮你按下两个按键，并出现一个标记你最后注视位置的蓝点或者黄点，注意这</a:t>
            </a:r>
            <a:r>
              <a:rPr lang="zh-CN" altLang="en-US" sz="3600" b="1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不是答案</a:t>
            </a:r>
            <a:r>
              <a:rPr lang="zh-CN" altLang="en-US" sz="36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位置。</a:t>
            </a:r>
            <a:endParaRPr lang="en-US" altLang="zh-CN" sz="3600" dirty="0">
              <a:solidFill>
                <a:prstClr val="black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C58A188-F879-48FC-4777-4ABD0F9204F7}"/>
              </a:ext>
            </a:extLst>
          </p:cNvPr>
          <p:cNvSpPr/>
          <p:nvPr/>
        </p:nvSpPr>
        <p:spPr>
          <a:xfrm>
            <a:off x="8948060" y="5051714"/>
            <a:ext cx="306977" cy="306977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BCB5E52-C679-1B08-ED22-E1B50D22AA03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28665A7-B7D3-D636-B10E-1E9DE83C5995}"/>
              </a:ext>
            </a:extLst>
          </p:cNvPr>
          <p:cNvSpPr txBox="1"/>
          <p:nvPr/>
        </p:nvSpPr>
        <p:spPr>
          <a:xfrm>
            <a:off x="5889913" y="6080409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pic>
        <p:nvPicPr>
          <p:cNvPr id="5" name="图片 4" descr="卡通人物&#10;&#10;低可信度描述已自动生成">
            <a:extLst>
              <a:ext uri="{FF2B5EF4-FFF2-40B4-BE49-F238E27FC236}">
                <a16:creationId xmlns:a16="http://schemas.microsoft.com/office/drawing/2014/main" id="{37F18B09-1B83-9ABE-94DC-CBDE5C0123A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885999" y="2379054"/>
            <a:ext cx="610009" cy="596751"/>
          </a:xfrm>
          <a:prstGeom prst="rect">
            <a:avLst/>
          </a:prstGeom>
        </p:spPr>
      </p:pic>
      <p:sp>
        <p:nvSpPr>
          <p:cNvPr id="8" name="椭圆 7">
            <a:extLst>
              <a:ext uri="{FF2B5EF4-FFF2-40B4-BE49-F238E27FC236}">
                <a16:creationId xmlns:a16="http://schemas.microsoft.com/office/drawing/2014/main" id="{EC82AC17-D982-6541-EF21-BD63B32FB9D6}"/>
              </a:ext>
            </a:extLst>
          </p:cNvPr>
          <p:cNvSpPr/>
          <p:nvPr/>
        </p:nvSpPr>
        <p:spPr>
          <a:xfrm>
            <a:off x="10847452" y="5051714"/>
            <a:ext cx="306977" cy="306977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5238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1DA7EA4-78CC-CDEC-3234-2329771951D2}"/>
              </a:ext>
            </a:extLst>
          </p:cNvPr>
          <p:cNvSpPr txBox="1"/>
          <p:nvPr/>
        </p:nvSpPr>
        <p:spPr>
          <a:xfrm>
            <a:off x="2729049" y="2291280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请稍作休息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6B0162-021D-9278-63F1-9C6CBCD3377A}"/>
              </a:ext>
            </a:extLst>
          </p:cNvPr>
          <p:cNvSpPr/>
          <p:nvPr/>
        </p:nvSpPr>
        <p:spPr>
          <a:xfrm>
            <a:off x="9172530" y="6115676"/>
            <a:ext cx="580842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C</a:t>
            </a:r>
            <a:endParaRPr lang="zh-CN" altLang="en-US" b="1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857F67C-9A99-2FFB-E528-11849EF41D29}"/>
              </a:ext>
            </a:extLst>
          </p:cNvPr>
          <p:cNvSpPr txBox="1"/>
          <p:nvPr/>
        </p:nvSpPr>
        <p:spPr>
          <a:xfrm>
            <a:off x="7974874" y="5523102"/>
            <a:ext cx="402118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en-US" altLang="zh-CN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C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提前开始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5939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7084B-3150-1C7F-F74D-4BAE317D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EB1393A-7D39-1D2A-24CA-38D68B8FA79B}"/>
              </a:ext>
            </a:extLst>
          </p:cNvPr>
          <p:cNvSpPr txBox="1"/>
          <p:nvPr/>
        </p:nvSpPr>
        <p:spPr>
          <a:xfrm>
            <a:off x="2729049" y="1838697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实验结束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2860658-4437-1B56-404E-1212D111CF54}"/>
              </a:ext>
            </a:extLst>
          </p:cNvPr>
          <p:cNvSpPr/>
          <p:nvPr/>
        </p:nvSpPr>
        <p:spPr>
          <a:xfrm>
            <a:off x="9255037" y="6115676"/>
            <a:ext cx="2481943" cy="509451"/>
          </a:xfrm>
          <a:prstGeom prst="roundRect">
            <a:avLst/>
          </a:prstGeom>
          <a:solidFill>
            <a:schemeClr val="tx1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t>space</a:t>
            </a:r>
            <a:endParaRPr kumimoji="0" lang="zh-CN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6C4F210-0D1C-9084-F1CF-A2A4D206FC1B}"/>
              </a:ext>
            </a:extLst>
          </p:cNvPr>
          <p:cNvSpPr txBox="1"/>
          <p:nvPr/>
        </p:nvSpPr>
        <p:spPr>
          <a:xfrm>
            <a:off x="8863151" y="5523102"/>
            <a:ext cx="31329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按“</a:t>
            </a:r>
            <a:r>
              <a:rPr kumimoji="0" lang="zh-CN" altLang="en-US" sz="28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空格键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楷体" panose="02010609060101010101" pitchFamily="49" charset="-122"/>
                <a:ea typeface="楷体" panose="02010609060101010101" pitchFamily="49" charset="-122"/>
                <a:cs typeface="+mn-cs"/>
              </a:rPr>
              <a:t>”</a:t>
            </a:r>
            <a:r>
              <a:rPr lang="zh-CN" altLang="en-US" sz="28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退出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F19A122-95BA-A84C-FFC0-D6641F039786}"/>
              </a:ext>
            </a:extLst>
          </p:cNvPr>
          <p:cNvSpPr txBox="1"/>
          <p:nvPr/>
        </p:nvSpPr>
        <p:spPr>
          <a:xfrm>
            <a:off x="2729049" y="3310939"/>
            <a:ext cx="67339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5400" dirty="0">
                <a:solidFill>
                  <a:prstClr val="black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感谢您的参与</a:t>
            </a:r>
            <a:endParaRPr kumimoji="0" lang="zh-CN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楷体" panose="02010609060101010101" pitchFamily="49" charset="-122"/>
              <a:ea typeface="楷体" panose="02010609060101010101" pitchFamily="49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4787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10189</TotalTime>
  <Words>746</Words>
  <Application>Microsoft Office PowerPoint</Application>
  <PresentationFormat>宽屏</PresentationFormat>
  <Paragraphs>126</Paragraphs>
  <Slides>20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7" baseType="lpstr">
      <vt:lpstr>等线</vt:lpstr>
      <vt:lpstr>等线 Light</vt:lpstr>
      <vt:lpstr>黑体</vt:lpstr>
      <vt:lpstr>楷体</vt:lpstr>
      <vt:lpstr>Arial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苏糖 来</dc:creator>
  <cp:lastModifiedBy>苏糖 来</cp:lastModifiedBy>
  <cp:revision>53</cp:revision>
  <dcterms:created xsi:type="dcterms:W3CDTF">2025-01-13T08:40:15Z</dcterms:created>
  <dcterms:modified xsi:type="dcterms:W3CDTF">2026-04-18T15:20:37Z</dcterms:modified>
</cp:coreProperties>
</file>